
<file path=[Content_Types].xml><?xml version="1.0" encoding="utf-8"?>
<Types xmlns="http://schemas.openxmlformats.org/package/2006/content-types">
  <Default Extension="jfif"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48" autoAdjust="0"/>
    <p:restoredTop sz="95033" autoAdjust="0"/>
  </p:normalViewPr>
  <p:slideViewPr>
    <p:cSldViewPr snapToGrid="0">
      <p:cViewPr varScale="1">
        <p:scale>
          <a:sx n="89" d="100"/>
          <a:sy n="89" d="100"/>
        </p:scale>
        <p:origin x="302"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aashitiwari555/Seasonal-Agriculture-Performance-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367280" y="3889047"/>
            <a:ext cx="8609163" cy="861497"/>
          </a:xfrm>
        </p:spPr>
        <p:txBody>
          <a:bodyPr vert="horz" lIns="91440" tIns="45720" rIns="91440" bIns="45720" rtlCol="0" anchor="t">
            <a:normAutofit fontScale="92500"/>
          </a:bodyPr>
          <a:lstStyle/>
          <a:p>
            <a:pPr algn="ctr"/>
            <a:r>
              <a:rPr lang="en-IN" sz="2200" dirty="0">
                <a:solidFill>
                  <a:schemeClr val="tx1"/>
                </a:solidFill>
              </a:rPr>
              <a:t>Aashi Tiwari </a:t>
            </a:r>
          </a:p>
          <a:p>
            <a:pPr algn="ctr"/>
            <a:r>
              <a:rPr lang="en-IN" b="0" dirty="0">
                <a:solidFill>
                  <a:schemeClr val="tx1"/>
                </a:solidFill>
              </a:rPr>
              <a:t>Bharati Vidyapeeth Deemed to be University, College of Engineering, Pune</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724615" y="2673667"/>
            <a:ext cx="9894497" cy="634999"/>
          </a:xfrm>
        </p:spPr>
        <p:txBody>
          <a:bodyPr>
            <a:noAutofit/>
          </a:bodyPr>
          <a:lstStyle/>
          <a:p>
            <a:pPr algn="r"/>
            <a:r>
              <a:rPr lang="en-IN" sz="4000"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2419564" y="4750544"/>
            <a:ext cx="6504596" cy="369332"/>
          </a:xfrm>
          <a:prstGeom prst="rect">
            <a:avLst/>
          </a:prstGeom>
          <a:noFill/>
        </p:spPr>
        <p:txBody>
          <a:bodyPr wrap="square" rtlCol="0">
            <a:spAutoFit/>
          </a:bodyPr>
          <a:lstStyle/>
          <a:p>
            <a:pPr algn="ctr"/>
            <a:r>
              <a:rPr lang="en-US" b="1" dirty="0"/>
              <a:t>AICTE STU ID : </a:t>
            </a:r>
            <a:r>
              <a:rPr lang="en-IN" b="1" dirty="0"/>
              <a:t>STU697df1a866be91769861544</a:t>
            </a:r>
            <a:endParaRPr lang="en-US" b="1" dirty="0"/>
          </a:p>
        </p:txBody>
      </p:sp>
      <p:sp>
        <p:nvSpPr>
          <p:cNvPr id="5" name="Text Placeholder 1">
            <a:extLst>
              <a:ext uri="{FF2B5EF4-FFF2-40B4-BE49-F238E27FC236}">
                <a16:creationId xmlns:a16="http://schemas.microsoft.com/office/drawing/2014/main" id="{5AF0CB25-CF11-669A-5018-6733858E3880}"/>
              </a:ext>
            </a:extLst>
          </p:cNvPr>
          <p:cNvSpPr txBox="1">
            <a:spLocks/>
          </p:cNvSpPr>
          <p:nvPr/>
        </p:nvSpPr>
        <p:spPr>
          <a:xfrm>
            <a:off x="724615" y="3308626"/>
            <a:ext cx="9948002" cy="459206"/>
          </a:xfrm>
          <a:prstGeom prst="rect">
            <a:avLst/>
          </a:prstGeom>
        </p:spPr>
        <p:txBody>
          <a:bodyPr vert="horz" lIns="91440" tIns="45720" rIns="91440" bIns="45720" rtlCol="0" anchor="t">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ctr"/>
            <a:r>
              <a:rPr lang="en-IN" b="0" i="1" dirty="0">
                <a:solidFill>
                  <a:schemeClr val="tx1">
                    <a:lumMod val="65000"/>
                    <a:lumOff val="35000"/>
                  </a:schemeClr>
                </a:solidFill>
              </a:rPr>
              <a:t>Data-Driven Analysis of Agricultural Performance Across Seasons</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5">
                                            <p:txEl>
                                              <p:pRg st="0" end="0"/>
                                            </p:txEl>
                                          </p:spTgt>
                                        </p:tgtEl>
                                        <p:attrNameLst>
                                          <p:attrName>style.visibility</p:attrName>
                                        </p:attrNameLst>
                                      </p:cBhvr>
                                      <p:to>
                                        <p:strVal val="visible"/>
                                      </p:to>
                                    </p:set>
                                    <p:animEffect transition="in" filter="randombar(horizontal)">
                                      <p:cBhvr>
                                        <p:cTn id="42"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P spid="5"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54602" y="1595886"/>
            <a:ext cx="5887738" cy="4960189"/>
          </a:xfrm>
        </p:spPr>
        <p:txBody>
          <a:bodyPr vert="horz" lIns="91440" tIns="45720" rIns="91440" bIns="45720" rtlCol="0" anchor="t">
            <a:normAutofit/>
          </a:bodyPr>
          <a:lstStyle/>
          <a:p>
            <a:pPr marL="0" indent="0" algn="just">
              <a:buNone/>
            </a:pPr>
            <a:r>
              <a:rPr lang="en-IN" sz="1600" dirty="0">
                <a:solidFill>
                  <a:schemeClr val="tx1"/>
                </a:solidFill>
              </a:rPr>
              <a:t>Agricultural activities are influenced by seasonal variations in environmental conditions, farming practices, resource availability and market conditions. As a result, agricultural performance may differ from one season to another. </a:t>
            </a:r>
          </a:p>
          <a:p>
            <a:pPr marL="0" indent="0" algn="just">
              <a:buNone/>
            </a:pPr>
            <a:endParaRPr lang="en-IN" sz="1600" dirty="0">
              <a:solidFill>
                <a:schemeClr val="tx1"/>
              </a:solidFill>
            </a:endParaRPr>
          </a:p>
          <a:p>
            <a:pPr marL="0" indent="0" algn="just">
              <a:buNone/>
            </a:pPr>
            <a:r>
              <a:rPr lang="en-IN" sz="1600" dirty="0">
                <a:solidFill>
                  <a:schemeClr val="tx1"/>
                </a:solidFill>
              </a:rPr>
              <a:t>However, raw agricultural data does not clearly explain how agricultural performance changes across seasons or what patterns can be observed in different seasonal conditions.</a:t>
            </a:r>
          </a:p>
          <a:p>
            <a:pPr marL="0" indent="0" algn="just">
              <a:buNone/>
            </a:pPr>
            <a:endParaRPr lang="en-IN" sz="1600" dirty="0">
              <a:solidFill>
                <a:schemeClr val="tx1"/>
              </a:solidFill>
            </a:endParaRPr>
          </a:p>
          <a:p>
            <a:pPr marL="0" indent="0" algn="just">
              <a:buNone/>
            </a:pPr>
            <a:r>
              <a:rPr lang="en-IN" sz="1600" dirty="0">
                <a:solidFill>
                  <a:schemeClr val="tx1"/>
                </a:solidFill>
              </a:rPr>
              <a:t>The problem is to </a:t>
            </a:r>
            <a:r>
              <a:rPr lang="en-IN" sz="1600" dirty="0" err="1">
                <a:solidFill>
                  <a:schemeClr val="tx1"/>
                </a:solidFill>
              </a:rPr>
              <a:t>analyze</a:t>
            </a:r>
            <a:r>
              <a:rPr lang="en-IN" sz="1600" dirty="0">
                <a:solidFill>
                  <a:schemeClr val="tx1"/>
                </a:solidFill>
              </a:rPr>
              <a:t> the given agricultural dataset and investigate seasonal differences in agricultural performance by identifying meaningful patterns, trends, relationships and variations within the available data. Agricultural performance changes with season, environmental conditions, farming practices, resource usage and market conditions.</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4" end="4"/>
                                            </p:txEl>
                                          </p:spTgt>
                                        </p:tgtEl>
                                        <p:attrNameLst>
                                          <p:attrName>style.visibility</p:attrName>
                                        </p:attrNameLst>
                                      </p:cBhvr>
                                      <p:to>
                                        <p:strVal val="visible"/>
                                      </p:to>
                                    </p:set>
                                    <p:animEffect transition="in" filter="fade">
                                      <p:cBhvr>
                                        <p:cTn id="28" dur="1000"/>
                                        <p:tgtEl>
                                          <p:spTgt spid="2">
                                            <p:txEl>
                                              <p:pRg st="4" end="4"/>
                                            </p:txEl>
                                          </p:spTgt>
                                        </p:tgtEl>
                                      </p:cBhvr>
                                    </p:animEffect>
                                    <p:anim calcmode="lin" valueType="num">
                                      <p:cBhvr>
                                        <p:cTn id="29"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281976"/>
            <a:ext cx="6276109" cy="830997"/>
          </a:xfrm>
        </p:spPr>
        <p:txBody>
          <a:bodyPr>
            <a:normAutofit fontScale="90000"/>
          </a:bodyPr>
          <a:lstStyle/>
          <a:p>
            <a:r>
              <a:rPr lang="en-GB" dirty="0"/>
              <a:t>Project Description</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A4940396-E94B-715A-D7F3-0AB30A6118FA}"/>
              </a:ext>
            </a:extLst>
          </p:cNvPr>
          <p:cNvSpPr txBox="1"/>
          <p:nvPr/>
        </p:nvSpPr>
        <p:spPr>
          <a:xfrm>
            <a:off x="675957" y="1147482"/>
            <a:ext cx="9675741" cy="5509200"/>
          </a:xfrm>
          <a:prstGeom prst="rect">
            <a:avLst/>
          </a:prstGeom>
          <a:noFill/>
        </p:spPr>
        <p:txBody>
          <a:bodyPr wrap="square" rtlCol="0">
            <a:spAutoFit/>
          </a:bodyPr>
          <a:lstStyle/>
          <a:p>
            <a:r>
              <a:rPr lang="en-IN" sz="1600" b="1" dirty="0"/>
              <a:t>From Raw Data to Agricultural Insights</a:t>
            </a:r>
          </a:p>
          <a:p>
            <a:r>
              <a:rPr lang="en-IN" sz="1600" dirty="0"/>
              <a:t>A data analytics workflow was developed to transform raw agricultural records into meaningful seasonal insights.</a:t>
            </a:r>
          </a:p>
          <a:p>
            <a:endParaRPr lang="en-IN" sz="1600" dirty="0"/>
          </a:p>
          <a:p>
            <a:r>
              <a:rPr lang="en-IN" sz="1600" b="1" dirty="0"/>
              <a:t>01 - Data Preparation</a:t>
            </a:r>
            <a:br>
              <a:rPr lang="en-IN" sz="1600" dirty="0"/>
            </a:br>
            <a:r>
              <a:rPr lang="en-IN" sz="1600" dirty="0"/>
              <a:t>Clean records, handle duplicates, standardize data and inspect data quality.</a:t>
            </a:r>
          </a:p>
          <a:p>
            <a:endParaRPr lang="en-IN" sz="1600" dirty="0"/>
          </a:p>
          <a:p>
            <a:r>
              <a:rPr lang="en-IN" sz="1600" b="1" dirty="0"/>
              <a:t>02 - Exploratory Analysis</a:t>
            </a:r>
            <a:br>
              <a:rPr lang="en-IN" sz="1600" dirty="0"/>
            </a:br>
            <a:r>
              <a:rPr lang="en-IN" sz="1600" dirty="0"/>
              <a:t>Understand crops, regions, seasons, environmental conditions and resource usage.</a:t>
            </a:r>
          </a:p>
          <a:p>
            <a:endParaRPr lang="en-IN" sz="1600" b="1" dirty="0"/>
          </a:p>
          <a:p>
            <a:r>
              <a:rPr lang="en-IN" sz="1600" b="1" dirty="0"/>
              <a:t>03 - Seasonal Analysis</a:t>
            </a:r>
            <a:br>
              <a:rPr lang="en-IN" sz="1600" dirty="0"/>
            </a:br>
            <a:r>
              <a:rPr lang="en-IN" sz="1600" dirty="0"/>
              <a:t>Compare yield, production, revenue, profit, water usage and risk across seasons.</a:t>
            </a:r>
          </a:p>
          <a:p>
            <a:endParaRPr lang="en-IN" sz="1600" b="1" dirty="0"/>
          </a:p>
          <a:p>
            <a:r>
              <a:rPr lang="en-IN" sz="1600" b="1" dirty="0"/>
              <a:t>04 - Relationship Analysis</a:t>
            </a:r>
            <a:br>
              <a:rPr lang="en-IN" sz="1600" dirty="0"/>
            </a:br>
            <a:r>
              <a:rPr lang="en-IN" sz="1600" dirty="0"/>
              <a:t>Study relationships between agricultural performance and measurable factors.</a:t>
            </a:r>
          </a:p>
          <a:p>
            <a:endParaRPr lang="en-IN" sz="1600" b="1" dirty="0"/>
          </a:p>
          <a:p>
            <a:r>
              <a:rPr lang="en-IN" sz="1600" b="1" dirty="0"/>
              <a:t>05 - Insight Generation</a:t>
            </a:r>
            <a:br>
              <a:rPr lang="en-IN" sz="1600" dirty="0"/>
            </a:br>
            <a:r>
              <a:rPr lang="en-IN" sz="1600" dirty="0"/>
              <a:t>Identify important patterns, variations and areas requiring attention.</a:t>
            </a:r>
          </a:p>
          <a:p>
            <a:endParaRPr lang="en-IN" sz="1600" dirty="0"/>
          </a:p>
          <a:p>
            <a:r>
              <a:rPr lang="en-IN" sz="1600" b="1" dirty="0"/>
              <a:t>Output</a:t>
            </a:r>
          </a:p>
          <a:p>
            <a:r>
              <a:rPr lang="en-IN" sz="1600" dirty="0"/>
              <a:t>A structured, evidence-based view of agricultural performance across seasons.</a:t>
            </a:r>
          </a:p>
          <a:p>
            <a:endParaRPr lang="en-IN" sz="1600"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558489"/>
            <a:ext cx="7844672" cy="4497546"/>
          </a:xfrm>
        </p:spPr>
        <p:txBody>
          <a:bodyPr>
            <a:normAutofit fontScale="47500" lnSpcReduction="20000"/>
          </a:bodyPr>
          <a:lstStyle/>
          <a:p>
            <a:pPr>
              <a:lnSpc>
                <a:spcPct val="170000"/>
              </a:lnSpc>
            </a:pPr>
            <a:r>
              <a:rPr lang="en-IN" sz="3600" b="1" dirty="0">
                <a:solidFill>
                  <a:schemeClr val="tx1"/>
                </a:solidFill>
              </a:rPr>
              <a:t>Farmers &amp; Farm Managers</a:t>
            </a:r>
            <a:br>
              <a:rPr lang="en-IN" sz="3600" dirty="0">
                <a:solidFill>
                  <a:schemeClr val="tx1"/>
                </a:solidFill>
              </a:rPr>
            </a:br>
            <a:r>
              <a:rPr lang="en-IN" sz="3600" dirty="0">
                <a:solidFill>
                  <a:schemeClr val="tx1"/>
                </a:solidFill>
              </a:rPr>
              <a:t>→ Compare seasonal performance and resource usage.</a:t>
            </a:r>
          </a:p>
          <a:p>
            <a:pPr>
              <a:lnSpc>
                <a:spcPct val="170000"/>
              </a:lnSpc>
            </a:pPr>
            <a:r>
              <a:rPr lang="en-IN" sz="3600" b="1" dirty="0">
                <a:solidFill>
                  <a:schemeClr val="tx1"/>
                </a:solidFill>
              </a:rPr>
              <a:t>Agricultural Planners</a:t>
            </a:r>
            <a:br>
              <a:rPr lang="en-IN" sz="3600" dirty="0">
                <a:solidFill>
                  <a:schemeClr val="tx1"/>
                </a:solidFill>
              </a:rPr>
            </a:br>
            <a:r>
              <a:rPr lang="en-IN" sz="3600" dirty="0">
                <a:solidFill>
                  <a:schemeClr val="tx1"/>
                </a:solidFill>
              </a:rPr>
              <a:t>→ Identify high- and low-performing seasons and regions.</a:t>
            </a:r>
          </a:p>
          <a:p>
            <a:pPr>
              <a:lnSpc>
                <a:spcPct val="170000"/>
              </a:lnSpc>
            </a:pPr>
            <a:r>
              <a:rPr lang="en-IN" sz="3600" b="1" dirty="0">
                <a:solidFill>
                  <a:schemeClr val="tx1"/>
                </a:solidFill>
              </a:rPr>
              <a:t>Agribusinesses</a:t>
            </a:r>
            <a:br>
              <a:rPr lang="en-IN" sz="3600" dirty="0">
                <a:solidFill>
                  <a:schemeClr val="tx1"/>
                </a:solidFill>
              </a:rPr>
            </a:br>
            <a:r>
              <a:rPr lang="en-IN" sz="3600" dirty="0">
                <a:solidFill>
                  <a:schemeClr val="tx1"/>
                </a:solidFill>
              </a:rPr>
              <a:t>→ Evaluate crop profitability, production and resource efficiency.</a:t>
            </a:r>
          </a:p>
          <a:p>
            <a:pPr>
              <a:lnSpc>
                <a:spcPct val="170000"/>
              </a:lnSpc>
            </a:pPr>
            <a:r>
              <a:rPr lang="en-IN" sz="3600" b="1" dirty="0">
                <a:solidFill>
                  <a:schemeClr val="tx1"/>
                </a:solidFill>
              </a:rPr>
              <a:t>Agricultural Researchers</a:t>
            </a:r>
            <a:br>
              <a:rPr lang="en-IN" sz="3600" dirty="0">
                <a:solidFill>
                  <a:schemeClr val="tx1"/>
                </a:solidFill>
              </a:rPr>
            </a:br>
            <a:r>
              <a:rPr lang="en-IN" sz="3600" dirty="0">
                <a:solidFill>
                  <a:schemeClr val="tx1"/>
                </a:solidFill>
              </a:rPr>
              <a:t>→ Study seasonal patterns and relationships in agricultural data.</a:t>
            </a:r>
          </a:p>
          <a:p>
            <a:pPr>
              <a:lnSpc>
                <a:spcPct val="170000"/>
              </a:lnSpc>
            </a:pPr>
            <a:r>
              <a:rPr lang="en-IN" sz="3600" b="1" dirty="0">
                <a:solidFill>
                  <a:schemeClr val="tx1"/>
                </a:solidFill>
              </a:rPr>
              <a:t>Data Analysts &amp; Decision Makers</a:t>
            </a:r>
            <a:br>
              <a:rPr lang="en-IN" sz="3600" dirty="0">
                <a:solidFill>
                  <a:schemeClr val="tx1"/>
                </a:solidFill>
              </a:rPr>
            </a:br>
            <a:r>
              <a:rPr lang="en-IN" sz="3600" dirty="0">
                <a:solidFill>
                  <a:schemeClr val="tx1"/>
                </a:solidFill>
              </a:rPr>
              <a:t>→ Use dashboards/analytics for evidence-based planning.</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721359" y="755848"/>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838382" y="1522878"/>
            <a:ext cx="4001699" cy="4282702"/>
          </a:xfrm>
        </p:spPr>
        <p:txBody>
          <a:bodyPr>
            <a:noAutofit/>
          </a:bodyPr>
          <a:lstStyle/>
          <a:p>
            <a:r>
              <a:rPr lang="en-IN" sz="1400" b="1" dirty="0">
                <a:solidFill>
                  <a:schemeClr val="tx1"/>
                </a:solidFill>
              </a:rPr>
              <a:t>Python</a:t>
            </a:r>
            <a:br>
              <a:rPr lang="en-IN" sz="1400" dirty="0">
                <a:solidFill>
                  <a:schemeClr val="tx1"/>
                </a:solidFill>
              </a:rPr>
            </a:br>
            <a:r>
              <a:rPr lang="en-IN" sz="1400" dirty="0">
                <a:solidFill>
                  <a:schemeClr val="tx1"/>
                </a:solidFill>
              </a:rPr>
              <a:t>Core programming and analysis</a:t>
            </a:r>
          </a:p>
          <a:p>
            <a:r>
              <a:rPr lang="en-IN" sz="1400" b="1" dirty="0">
                <a:solidFill>
                  <a:schemeClr val="tx1"/>
                </a:solidFill>
              </a:rPr>
              <a:t>Pandas</a:t>
            </a:r>
            <a:br>
              <a:rPr lang="en-IN" sz="1400" dirty="0">
                <a:solidFill>
                  <a:schemeClr val="tx1"/>
                </a:solidFill>
              </a:rPr>
            </a:br>
            <a:r>
              <a:rPr lang="en-IN" sz="1400" dirty="0">
                <a:solidFill>
                  <a:schemeClr val="tx1"/>
                </a:solidFill>
              </a:rPr>
              <a:t>Data cleaning, transformation and aggregation</a:t>
            </a:r>
          </a:p>
          <a:p>
            <a:r>
              <a:rPr lang="en-IN" sz="1400" b="1" dirty="0">
                <a:solidFill>
                  <a:schemeClr val="tx1"/>
                </a:solidFill>
              </a:rPr>
              <a:t>NumPy</a:t>
            </a:r>
            <a:br>
              <a:rPr lang="en-IN" sz="1400" dirty="0">
                <a:solidFill>
                  <a:schemeClr val="tx1"/>
                </a:solidFill>
              </a:rPr>
            </a:br>
            <a:r>
              <a:rPr lang="en-IN" sz="1400" dirty="0">
                <a:solidFill>
                  <a:schemeClr val="tx1"/>
                </a:solidFill>
              </a:rPr>
              <a:t>Numerical computation</a:t>
            </a:r>
          </a:p>
          <a:p>
            <a:r>
              <a:rPr lang="en-IN" sz="1400" b="1" dirty="0">
                <a:solidFill>
                  <a:schemeClr val="tx1"/>
                </a:solidFill>
              </a:rPr>
              <a:t>Matplotlib</a:t>
            </a:r>
            <a:br>
              <a:rPr lang="en-IN" sz="1400" dirty="0">
                <a:solidFill>
                  <a:schemeClr val="tx1"/>
                </a:solidFill>
              </a:rPr>
            </a:br>
            <a:r>
              <a:rPr lang="en-IN" sz="1400" dirty="0">
                <a:solidFill>
                  <a:schemeClr val="tx1"/>
                </a:solidFill>
              </a:rPr>
              <a:t>Data visualization</a:t>
            </a:r>
          </a:p>
          <a:p>
            <a:r>
              <a:rPr lang="en-IN" sz="1400" b="1" dirty="0">
                <a:solidFill>
                  <a:schemeClr val="tx1"/>
                </a:solidFill>
              </a:rPr>
              <a:t>Google </a:t>
            </a:r>
            <a:r>
              <a:rPr lang="en-IN" sz="1400" b="1" dirty="0" err="1">
                <a:solidFill>
                  <a:schemeClr val="tx1"/>
                </a:solidFill>
              </a:rPr>
              <a:t>Colab</a:t>
            </a:r>
            <a:br>
              <a:rPr lang="en-IN" sz="1400" dirty="0">
                <a:solidFill>
                  <a:schemeClr val="tx1"/>
                </a:solidFill>
              </a:rPr>
            </a:br>
            <a:r>
              <a:rPr lang="en-IN" sz="1400" dirty="0">
                <a:solidFill>
                  <a:schemeClr val="tx1"/>
                </a:solidFill>
              </a:rPr>
              <a:t>Interactive analysis and documentation</a:t>
            </a:r>
          </a:p>
          <a:p>
            <a:pPr lvl="1">
              <a:lnSpc>
                <a:spcPct val="150000"/>
              </a:lnSpc>
            </a:pPr>
            <a:endParaRPr lang="en-IN" sz="1100" dirty="0">
              <a:solidFill>
                <a:schemeClr val="tx1"/>
              </a:solidFill>
            </a:endParaRP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3" name="Text Placeholder 6">
            <a:extLst>
              <a:ext uri="{FF2B5EF4-FFF2-40B4-BE49-F238E27FC236}">
                <a16:creationId xmlns:a16="http://schemas.microsoft.com/office/drawing/2014/main" id="{02C52162-D8D5-26AA-02A5-BD2BE1ADBD68}"/>
              </a:ext>
            </a:extLst>
          </p:cNvPr>
          <p:cNvSpPr txBox="1">
            <a:spLocks/>
          </p:cNvSpPr>
          <p:nvPr/>
        </p:nvSpPr>
        <p:spPr>
          <a:xfrm>
            <a:off x="6096000" y="1278384"/>
            <a:ext cx="4001699" cy="3682853"/>
          </a:xfrm>
          <a:prstGeom prst="rect">
            <a:avLst/>
          </a:prstGeom>
        </p:spPr>
        <p:txBody>
          <a:bodyPr vert="horz" lIns="91440" tIns="45720" rIns="91440" bIns="45720" rtlCol="0">
            <a:noAutofit/>
          </a:bodyPr>
          <a:lstStyle>
            <a:lvl1pPr marL="342900" indent="-342900" algn="l" defTabSz="457200" rtl="0" eaLnBrk="1" latinLnBrk="0" hangingPunct="1">
              <a:lnSpc>
                <a:spcPct val="150000"/>
              </a:lnSpc>
              <a:spcBef>
                <a:spcPts val="1000"/>
              </a:spcBef>
              <a:spcAft>
                <a:spcPts val="0"/>
              </a:spcAft>
              <a:buClr>
                <a:schemeClr val="accent4"/>
              </a:buClr>
              <a:buSzPct val="80000"/>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4"/>
              </a:buClr>
              <a:buSzPct val="80000"/>
              <a:buFont typeface="Wingdings" panose="05000000000000000000" pitchFamily="2" charset="2"/>
              <a:buChar char="§"/>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IN" sz="2800" b="1" dirty="0">
                <a:solidFill>
                  <a:schemeClr val="tx1"/>
                </a:solidFill>
              </a:rPr>
              <a:t>Analytical Techniques</a:t>
            </a:r>
          </a:p>
          <a:p>
            <a:pPr lvl="0"/>
            <a:r>
              <a:rPr lang="en-IN" sz="1400" dirty="0">
                <a:solidFill>
                  <a:schemeClr val="tx1"/>
                </a:solidFill>
              </a:rPr>
              <a:t>Data Cleaning &amp; Quality</a:t>
            </a:r>
            <a:r>
              <a:rPr lang="en-IN" sz="1600" dirty="0">
                <a:solidFill>
                  <a:schemeClr val="tx1"/>
                </a:solidFill>
              </a:rPr>
              <a:t> </a:t>
            </a:r>
            <a:r>
              <a:rPr lang="en-IN" sz="1400" dirty="0">
                <a:solidFill>
                  <a:schemeClr val="tx1"/>
                </a:solidFill>
              </a:rPr>
              <a:t>Analysis </a:t>
            </a:r>
          </a:p>
          <a:p>
            <a:pPr lvl="0"/>
            <a:r>
              <a:rPr lang="en-IN" sz="1400" dirty="0">
                <a:solidFill>
                  <a:schemeClr val="tx1"/>
                </a:solidFill>
              </a:rPr>
              <a:t>Exploratory Data Analysis </a:t>
            </a:r>
          </a:p>
          <a:p>
            <a:r>
              <a:rPr lang="en-IN" sz="1400" dirty="0">
                <a:solidFill>
                  <a:schemeClr val="tx1"/>
                </a:solidFill>
              </a:rPr>
              <a:t>Group-by &amp; Aggregation </a:t>
            </a:r>
          </a:p>
          <a:p>
            <a:pPr lvl="0"/>
            <a:r>
              <a:rPr lang="en-IN" sz="1400" dirty="0">
                <a:solidFill>
                  <a:schemeClr val="tx1"/>
                </a:solidFill>
              </a:rPr>
              <a:t>Seasonal Comparison </a:t>
            </a:r>
          </a:p>
          <a:p>
            <a:r>
              <a:rPr lang="en-IN" sz="1400" dirty="0">
                <a:solidFill>
                  <a:schemeClr val="tx1"/>
                </a:solidFill>
              </a:rPr>
              <a:t>Correlation Analysis </a:t>
            </a:r>
          </a:p>
          <a:p>
            <a:pPr lvl="0"/>
            <a:r>
              <a:rPr lang="en-IN" sz="1400" dirty="0">
                <a:solidFill>
                  <a:schemeClr val="tx1"/>
                </a:solidFill>
              </a:rPr>
              <a:t>Variability Analysis </a:t>
            </a:r>
          </a:p>
          <a:p>
            <a:pPr lvl="0"/>
            <a:r>
              <a:rPr lang="en-IN" sz="1400" dirty="0">
                <a:solidFill>
                  <a:schemeClr val="tx1"/>
                </a:solidFill>
              </a:rPr>
              <a:t>Outlier Detection </a:t>
            </a:r>
          </a:p>
          <a:p>
            <a:r>
              <a:rPr lang="en-IN" sz="1400" dirty="0">
                <a:solidFill>
                  <a:schemeClr val="tx1"/>
                </a:solidFill>
              </a:rPr>
              <a:t>Cross-Region Analysis</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0" end="0"/>
                                            </p:txEl>
                                          </p:spTgt>
                                        </p:tgtEl>
                                        <p:attrNameLst>
                                          <p:attrName>style.visibility</p:attrName>
                                        </p:attrNameLst>
                                      </p:cBhvr>
                                      <p:to>
                                        <p:strVal val="visible"/>
                                      </p:to>
                                    </p:set>
                                    <p:animEffect transition="in" filter="fade">
                                      <p:cBhvr>
                                        <p:cTn id="49" dur="1000"/>
                                        <p:tgtEl>
                                          <p:spTgt spid="3">
                                            <p:txEl>
                                              <p:pRg st="0" end="0"/>
                                            </p:txEl>
                                          </p:spTgt>
                                        </p:tgtEl>
                                      </p:cBhvr>
                                    </p:animEffect>
                                    <p:anim calcmode="lin" valueType="num">
                                      <p:cBhvr>
                                        <p:cTn id="50"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1" end="1"/>
                                            </p:txEl>
                                          </p:spTgt>
                                        </p:tgtEl>
                                        <p:attrNameLst>
                                          <p:attrName>style.visibility</p:attrName>
                                        </p:attrNameLst>
                                      </p:cBhvr>
                                      <p:to>
                                        <p:strVal val="visible"/>
                                      </p:to>
                                    </p:set>
                                    <p:animEffect transition="in" filter="fade">
                                      <p:cBhvr>
                                        <p:cTn id="56" dur="1000"/>
                                        <p:tgtEl>
                                          <p:spTgt spid="3">
                                            <p:txEl>
                                              <p:pRg st="1" end="1"/>
                                            </p:txEl>
                                          </p:spTgt>
                                        </p:tgtEl>
                                      </p:cBhvr>
                                    </p:animEffect>
                                    <p:anim calcmode="lin" valueType="num">
                                      <p:cBhvr>
                                        <p:cTn id="57"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2" end="2"/>
                                            </p:txEl>
                                          </p:spTgt>
                                        </p:tgtEl>
                                        <p:attrNameLst>
                                          <p:attrName>style.visibility</p:attrName>
                                        </p:attrNameLst>
                                      </p:cBhvr>
                                      <p:to>
                                        <p:strVal val="visible"/>
                                      </p:to>
                                    </p:set>
                                    <p:animEffect transition="in" filter="fade">
                                      <p:cBhvr>
                                        <p:cTn id="63" dur="1000"/>
                                        <p:tgtEl>
                                          <p:spTgt spid="3">
                                            <p:txEl>
                                              <p:pRg st="2" end="2"/>
                                            </p:txEl>
                                          </p:spTgt>
                                        </p:tgtEl>
                                      </p:cBhvr>
                                    </p:animEffect>
                                    <p:anim calcmode="lin" valueType="num">
                                      <p:cBhvr>
                                        <p:cTn id="64"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3">
                                            <p:txEl>
                                              <p:pRg st="3" end="3"/>
                                            </p:txEl>
                                          </p:spTgt>
                                        </p:tgtEl>
                                        <p:attrNameLst>
                                          <p:attrName>style.visibility</p:attrName>
                                        </p:attrNameLst>
                                      </p:cBhvr>
                                      <p:to>
                                        <p:strVal val="visible"/>
                                      </p:to>
                                    </p:set>
                                    <p:animEffect transition="in" filter="fade">
                                      <p:cBhvr>
                                        <p:cTn id="70" dur="1000"/>
                                        <p:tgtEl>
                                          <p:spTgt spid="3">
                                            <p:txEl>
                                              <p:pRg st="3" end="3"/>
                                            </p:txEl>
                                          </p:spTgt>
                                        </p:tgtEl>
                                      </p:cBhvr>
                                    </p:animEffect>
                                    <p:anim calcmode="lin" valueType="num">
                                      <p:cBhvr>
                                        <p:cTn id="71"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3">
                                            <p:txEl>
                                              <p:pRg st="4" end="4"/>
                                            </p:txEl>
                                          </p:spTgt>
                                        </p:tgtEl>
                                        <p:attrNameLst>
                                          <p:attrName>style.visibility</p:attrName>
                                        </p:attrNameLst>
                                      </p:cBhvr>
                                      <p:to>
                                        <p:strVal val="visible"/>
                                      </p:to>
                                    </p:set>
                                    <p:animEffect transition="in" filter="fade">
                                      <p:cBhvr>
                                        <p:cTn id="77" dur="1000"/>
                                        <p:tgtEl>
                                          <p:spTgt spid="3">
                                            <p:txEl>
                                              <p:pRg st="4" end="4"/>
                                            </p:txEl>
                                          </p:spTgt>
                                        </p:tgtEl>
                                      </p:cBhvr>
                                    </p:animEffect>
                                    <p:anim calcmode="lin" valueType="num">
                                      <p:cBhvr>
                                        <p:cTn id="7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7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3">
                                            <p:txEl>
                                              <p:pRg st="5" end="5"/>
                                            </p:txEl>
                                          </p:spTgt>
                                        </p:tgtEl>
                                        <p:attrNameLst>
                                          <p:attrName>style.visibility</p:attrName>
                                        </p:attrNameLst>
                                      </p:cBhvr>
                                      <p:to>
                                        <p:strVal val="visible"/>
                                      </p:to>
                                    </p:set>
                                    <p:animEffect transition="in" filter="fade">
                                      <p:cBhvr>
                                        <p:cTn id="84" dur="1000"/>
                                        <p:tgtEl>
                                          <p:spTgt spid="3">
                                            <p:txEl>
                                              <p:pRg st="5" end="5"/>
                                            </p:txEl>
                                          </p:spTgt>
                                        </p:tgtEl>
                                      </p:cBhvr>
                                    </p:animEffect>
                                    <p:anim calcmode="lin" valueType="num">
                                      <p:cBhvr>
                                        <p:cTn id="8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86"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3">
                                            <p:txEl>
                                              <p:pRg st="6" end="6"/>
                                            </p:txEl>
                                          </p:spTgt>
                                        </p:tgtEl>
                                        <p:attrNameLst>
                                          <p:attrName>style.visibility</p:attrName>
                                        </p:attrNameLst>
                                      </p:cBhvr>
                                      <p:to>
                                        <p:strVal val="visible"/>
                                      </p:to>
                                    </p:set>
                                    <p:animEffect transition="in" filter="fade">
                                      <p:cBhvr>
                                        <p:cTn id="91" dur="1000"/>
                                        <p:tgtEl>
                                          <p:spTgt spid="3">
                                            <p:txEl>
                                              <p:pRg st="6" end="6"/>
                                            </p:txEl>
                                          </p:spTgt>
                                        </p:tgtEl>
                                      </p:cBhvr>
                                    </p:animEffect>
                                    <p:anim calcmode="lin" valueType="num">
                                      <p:cBhvr>
                                        <p:cTn id="92"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93"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3">
                                            <p:txEl>
                                              <p:pRg st="7" end="7"/>
                                            </p:txEl>
                                          </p:spTgt>
                                        </p:tgtEl>
                                        <p:attrNameLst>
                                          <p:attrName>style.visibility</p:attrName>
                                        </p:attrNameLst>
                                      </p:cBhvr>
                                      <p:to>
                                        <p:strVal val="visible"/>
                                      </p:to>
                                    </p:set>
                                    <p:animEffect transition="in" filter="fade">
                                      <p:cBhvr>
                                        <p:cTn id="98" dur="1000"/>
                                        <p:tgtEl>
                                          <p:spTgt spid="3">
                                            <p:txEl>
                                              <p:pRg st="7" end="7"/>
                                            </p:txEl>
                                          </p:spTgt>
                                        </p:tgtEl>
                                      </p:cBhvr>
                                    </p:animEffect>
                                    <p:anim calcmode="lin" valueType="num">
                                      <p:cBhvr>
                                        <p:cTn id="99"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100"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3">
                                            <p:txEl>
                                              <p:pRg st="8" end="8"/>
                                            </p:txEl>
                                          </p:spTgt>
                                        </p:tgtEl>
                                        <p:attrNameLst>
                                          <p:attrName>style.visibility</p:attrName>
                                        </p:attrNameLst>
                                      </p:cBhvr>
                                      <p:to>
                                        <p:strVal val="visible"/>
                                      </p:to>
                                    </p:set>
                                    <p:animEffect transition="in" filter="fade">
                                      <p:cBhvr>
                                        <p:cTn id="105" dur="1000"/>
                                        <p:tgtEl>
                                          <p:spTgt spid="3">
                                            <p:txEl>
                                              <p:pRg st="8" end="8"/>
                                            </p:txEl>
                                          </p:spTgt>
                                        </p:tgtEl>
                                      </p:cBhvr>
                                    </p:animEffect>
                                    <p:anim calcmode="lin" valueType="num">
                                      <p:cBhvr>
                                        <p:cTn id="106"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107"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4" name="Picture 13">
            <a:extLst>
              <a:ext uri="{FF2B5EF4-FFF2-40B4-BE49-F238E27FC236}">
                <a16:creationId xmlns:a16="http://schemas.microsoft.com/office/drawing/2014/main" id="{878BE298-45D7-F5AD-3990-949F3DCDDF89}"/>
              </a:ext>
            </a:extLst>
          </p:cNvPr>
          <p:cNvPicPr>
            <a:picLocks noChangeAspect="1"/>
          </p:cNvPicPr>
          <p:nvPr/>
        </p:nvPicPr>
        <p:blipFill>
          <a:blip r:embed="rId3"/>
          <a:stretch>
            <a:fillRect/>
          </a:stretch>
        </p:blipFill>
        <p:spPr>
          <a:xfrm>
            <a:off x="5515374" y="822769"/>
            <a:ext cx="5895845" cy="2921096"/>
          </a:xfrm>
          <a:prstGeom prst="rect">
            <a:avLst/>
          </a:prstGeom>
        </p:spPr>
      </p:pic>
      <p:pic>
        <p:nvPicPr>
          <p:cNvPr id="16" name="Picture 15">
            <a:extLst>
              <a:ext uri="{FF2B5EF4-FFF2-40B4-BE49-F238E27FC236}">
                <a16:creationId xmlns:a16="http://schemas.microsoft.com/office/drawing/2014/main" id="{55ADA5C2-AA44-6AD1-24F0-734D2B1CBBEC}"/>
              </a:ext>
            </a:extLst>
          </p:cNvPr>
          <p:cNvPicPr>
            <a:picLocks noChangeAspect="1"/>
          </p:cNvPicPr>
          <p:nvPr/>
        </p:nvPicPr>
        <p:blipFill>
          <a:blip r:embed="rId4"/>
          <a:stretch>
            <a:fillRect/>
          </a:stretch>
        </p:blipFill>
        <p:spPr>
          <a:xfrm>
            <a:off x="5515375" y="3743865"/>
            <a:ext cx="5895845" cy="2921096"/>
          </a:xfrm>
          <a:prstGeom prst="rect">
            <a:avLst/>
          </a:prstGeom>
        </p:spPr>
      </p:pic>
      <p:sp>
        <p:nvSpPr>
          <p:cNvPr id="17" name="TextBox 16">
            <a:extLst>
              <a:ext uri="{FF2B5EF4-FFF2-40B4-BE49-F238E27FC236}">
                <a16:creationId xmlns:a16="http://schemas.microsoft.com/office/drawing/2014/main" id="{2512907E-4474-9BE8-5D27-E4AFE00BD954}"/>
              </a:ext>
            </a:extLst>
          </p:cNvPr>
          <p:cNvSpPr txBox="1"/>
          <p:nvPr/>
        </p:nvSpPr>
        <p:spPr>
          <a:xfrm>
            <a:off x="623730" y="1501499"/>
            <a:ext cx="4632384" cy="1785104"/>
          </a:xfrm>
          <a:prstGeom prst="rect">
            <a:avLst/>
          </a:prstGeom>
          <a:noFill/>
        </p:spPr>
        <p:txBody>
          <a:bodyPr wrap="square" rtlCol="0">
            <a:spAutoFit/>
          </a:bodyPr>
          <a:lstStyle/>
          <a:p>
            <a:pPr algn="just"/>
            <a:r>
              <a:rPr lang="en-IN" sz="1200" dirty="0"/>
              <a:t>The chart compares the average yield across the three agricultural seasons. Kharif records the highest average yield, followed by Rabi, while Zaid has the lowest.</a:t>
            </a:r>
          </a:p>
          <a:p>
            <a:endParaRPr lang="en-IN" sz="1200" dirty="0"/>
          </a:p>
          <a:p>
            <a:r>
              <a:rPr lang="en-IN" sz="1400" b="1" dirty="0"/>
              <a:t>Conclusion</a:t>
            </a:r>
          </a:p>
          <a:p>
            <a:pPr algn="just"/>
            <a:r>
              <a:rPr lang="en-IN" sz="1200" dirty="0"/>
              <a:t>Kharif is the best-performing season in terms of average yield, whereas Zaid shows comparatively lower productivity. This highlights a clear seasonal variation in agricultural performance.</a:t>
            </a:r>
          </a:p>
          <a:p>
            <a:endParaRPr lang="en-IN" sz="1200" dirty="0"/>
          </a:p>
        </p:txBody>
      </p:sp>
      <p:sp>
        <p:nvSpPr>
          <p:cNvPr id="19" name="TextBox 18">
            <a:extLst>
              <a:ext uri="{FF2B5EF4-FFF2-40B4-BE49-F238E27FC236}">
                <a16:creationId xmlns:a16="http://schemas.microsoft.com/office/drawing/2014/main" id="{9430C4B0-B5C3-DD56-3974-3DBB63D03586}"/>
              </a:ext>
            </a:extLst>
          </p:cNvPr>
          <p:cNvSpPr txBox="1"/>
          <p:nvPr/>
        </p:nvSpPr>
        <p:spPr>
          <a:xfrm>
            <a:off x="675957" y="4219528"/>
            <a:ext cx="4632384" cy="1969770"/>
          </a:xfrm>
          <a:prstGeom prst="rect">
            <a:avLst/>
          </a:prstGeom>
          <a:noFill/>
        </p:spPr>
        <p:txBody>
          <a:bodyPr wrap="square" rtlCol="0">
            <a:spAutoFit/>
          </a:bodyPr>
          <a:lstStyle/>
          <a:p>
            <a:pPr algn="just"/>
            <a:r>
              <a:rPr lang="en-IN" sz="1200" dirty="0"/>
              <a:t>The boxplot shows the distribution and variability of yield across seasons. Kharif and Rabi have wider distributions with many high-yield outliers, while Zaid has a comparatively lower range.</a:t>
            </a:r>
          </a:p>
          <a:p>
            <a:pPr algn="just"/>
            <a:endParaRPr lang="en-IN" sz="1200" dirty="0"/>
          </a:p>
          <a:p>
            <a:r>
              <a:rPr lang="en-IN" sz="1400" b="1" dirty="0"/>
              <a:t>Conclusion</a:t>
            </a:r>
          </a:p>
          <a:p>
            <a:pPr algn="just"/>
            <a:r>
              <a:rPr lang="en-IN" sz="1200" dirty="0"/>
              <a:t>Kharif shows the highest overall yield potential, but all seasons contain considerable variation and outliers. This suggests that agricultural performance is not uniform within a season and may depend on other factors such as crop, region, or farming conditions.</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extBox 8">
            <a:extLst>
              <a:ext uri="{FF2B5EF4-FFF2-40B4-BE49-F238E27FC236}">
                <a16:creationId xmlns:a16="http://schemas.microsoft.com/office/drawing/2014/main" id="{D3BE0666-0585-9D4C-96F8-AFC52A455163}"/>
              </a:ext>
            </a:extLst>
          </p:cNvPr>
          <p:cNvSpPr txBox="1"/>
          <p:nvPr/>
        </p:nvSpPr>
        <p:spPr>
          <a:xfrm>
            <a:off x="623730" y="1501499"/>
            <a:ext cx="4632384" cy="1785104"/>
          </a:xfrm>
          <a:prstGeom prst="rect">
            <a:avLst/>
          </a:prstGeom>
          <a:noFill/>
        </p:spPr>
        <p:txBody>
          <a:bodyPr wrap="square" rtlCol="0">
            <a:spAutoFit/>
          </a:bodyPr>
          <a:lstStyle/>
          <a:p>
            <a:pPr algn="just"/>
            <a:r>
              <a:rPr lang="en-IN" sz="1200" dirty="0"/>
              <a:t>The chart shows the Pearson correlation between yield and other numerical factors. Water efficiency has the strongest positive relationship with yield, followed by production. Market price shows the strongest negative relationship.</a:t>
            </a:r>
          </a:p>
          <a:p>
            <a:endParaRPr lang="en-IN" sz="1200" dirty="0"/>
          </a:p>
          <a:p>
            <a:r>
              <a:rPr lang="en-IN" sz="1400" b="1" dirty="0"/>
              <a:t>Conclusion</a:t>
            </a:r>
          </a:p>
          <a:p>
            <a:pPr algn="just"/>
            <a:r>
              <a:rPr lang="en-IN" sz="1200" dirty="0"/>
              <a:t>Water efficiency is the strongest numeric factor associated with yield in this dataset. However, these correlations show relationships, not direct cause-and-effect.</a:t>
            </a:r>
          </a:p>
        </p:txBody>
      </p:sp>
      <p:sp>
        <p:nvSpPr>
          <p:cNvPr id="12" name="TextBox 11">
            <a:extLst>
              <a:ext uri="{FF2B5EF4-FFF2-40B4-BE49-F238E27FC236}">
                <a16:creationId xmlns:a16="http://schemas.microsoft.com/office/drawing/2014/main" id="{0CB9EE5C-6196-0C86-04E5-7774223DA8EA}"/>
              </a:ext>
            </a:extLst>
          </p:cNvPr>
          <p:cNvSpPr txBox="1"/>
          <p:nvPr/>
        </p:nvSpPr>
        <p:spPr>
          <a:xfrm>
            <a:off x="675958" y="4347746"/>
            <a:ext cx="4632384" cy="1600438"/>
          </a:xfrm>
          <a:prstGeom prst="rect">
            <a:avLst/>
          </a:prstGeom>
          <a:noFill/>
        </p:spPr>
        <p:txBody>
          <a:bodyPr wrap="square" rtlCol="0">
            <a:spAutoFit/>
          </a:bodyPr>
          <a:lstStyle/>
          <a:p>
            <a:pPr algn="just"/>
            <a:r>
              <a:rPr lang="en-IN" sz="1200" dirty="0"/>
              <a:t>The chart compares average rainfall across the three seasons. Kharif receives the highest rainfall, followed by Rabi, while Zaid receives the least.</a:t>
            </a:r>
          </a:p>
          <a:p>
            <a:endParaRPr lang="en-IN" sz="1200" dirty="0"/>
          </a:p>
          <a:p>
            <a:r>
              <a:rPr lang="en-IN" sz="1400" b="1" dirty="0"/>
              <a:t>Conclusion</a:t>
            </a:r>
          </a:p>
          <a:p>
            <a:pPr algn="just"/>
            <a:r>
              <a:rPr lang="en-IN" sz="1200" dirty="0"/>
              <a:t>Rainfall varies considerably by season, with Kharif experiencing substantially higher rainfall than Rabi and Zaid. This highlights a major seasonal difference in environmental conditions.</a:t>
            </a:r>
          </a:p>
        </p:txBody>
      </p:sp>
      <p:pic>
        <p:nvPicPr>
          <p:cNvPr id="14" name="Picture 13">
            <a:extLst>
              <a:ext uri="{FF2B5EF4-FFF2-40B4-BE49-F238E27FC236}">
                <a16:creationId xmlns:a16="http://schemas.microsoft.com/office/drawing/2014/main" id="{45117B14-00EE-1097-319B-907BB83A9BE1}"/>
              </a:ext>
            </a:extLst>
          </p:cNvPr>
          <p:cNvPicPr>
            <a:picLocks noChangeAspect="1"/>
          </p:cNvPicPr>
          <p:nvPr/>
        </p:nvPicPr>
        <p:blipFill>
          <a:blip r:embed="rId3"/>
          <a:stretch>
            <a:fillRect/>
          </a:stretch>
        </p:blipFill>
        <p:spPr>
          <a:xfrm>
            <a:off x="5308342" y="532591"/>
            <a:ext cx="6069900" cy="3341855"/>
          </a:xfrm>
          <a:prstGeom prst="rect">
            <a:avLst/>
          </a:prstGeom>
        </p:spPr>
      </p:pic>
      <p:pic>
        <p:nvPicPr>
          <p:cNvPr id="16" name="Picture 15">
            <a:extLst>
              <a:ext uri="{FF2B5EF4-FFF2-40B4-BE49-F238E27FC236}">
                <a16:creationId xmlns:a16="http://schemas.microsoft.com/office/drawing/2014/main" id="{8318F969-E60D-DEE0-968C-F7F6E376ED2F}"/>
              </a:ext>
            </a:extLst>
          </p:cNvPr>
          <p:cNvPicPr>
            <a:picLocks noChangeAspect="1"/>
          </p:cNvPicPr>
          <p:nvPr/>
        </p:nvPicPr>
        <p:blipFill>
          <a:blip r:embed="rId4"/>
          <a:stretch>
            <a:fillRect/>
          </a:stretch>
        </p:blipFill>
        <p:spPr>
          <a:xfrm>
            <a:off x="6232066" y="3874446"/>
            <a:ext cx="5146176" cy="2547039"/>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extBox 8">
            <a:extLst>
              <a:ext uri="{FF2B5EF4-FFF2-40B4-BE49-F238E27FC236}">
                <a16:creationId xmlns:a16="http://schemas.microsoft.com/office/drawing/2014/main" id="{EEF0BD27-F7CD-85A4-9C24-9B741560295C}"/>
              </a:ext>
            </a:extLst>
          </p:cNvPr>
          <p:cNvSpPr txBox="1"/>
          <p:nvPr/>
        </p:nvSpPr>
        <p:spPr>
          <a:xfrm>
            <a:off x="623730" y="1501499"/>
            <a:ext cx="4632384" cy="1415772"/>
          </a:xfrm>
          <a:prstGeom prst="rect">
            <a:avLst/>
          </a:prstGeom>
          <a:noFill/>
        </p:spPr>
        <p:txBody>
          <a:bodyPr wrap="square" rtlCol="0">
            <a:spAutoFit/>
          </a:bodyPr>
          <a:lstStyle/>
          <a:p>
            <a:pPr algn="just"/>
            <a:r>
              <a:rPr lang="en-IN" sz="1200" dirty="0"/>
              <a:t>The chart compares average temperature across the seasons. Zaid has the highest average temperature, followed by Kharif, while Rabi has the lowest.</a:t>
            </a:r>
          </a:p>
          <a:p>
            <a:endParaRPr lang="en-IN" sz="1200" dirty="0"/>
          </a:p>
          <a:p>
            <a:r>
              <a:rPr lang="en-IN" sz="1400" b="1" dirty="0"/>
              <a:t>Conclusion</a:t>
            </a:r>
          </a:p>
          <a:p>
            <a:pPr algn="just"/>
            <a:r>
              <a:rPr lang="en-IN" sz="1200" dirty="0"/>
              <a:t>Temperature shows a clear seasonal variation, with Zaid being the warmest and Rabi the coolest season in the dataset.</a:t>
            </a:r>
          </a:p>
        </p:txBody>
      </p:sp>
      <p:sp>
        <p:nvSpPr>
          <p:cNvPr id="12" name="TextBox 11">
            <a:extLst>
              <a:ext uri="{FF2B5EF4-FFF2-40B4-BE49-F238E27FC236}">
                <a16:creationId xmlns:a16="http://schemas.microsoft.com/office/drawing/2014/main" id="{954A9D7B-0D4E-BAB9-E018-D61AD1FF0413}"/>
              </a:ext>
            </a:extLst>
          </p:cNvPr>
          <p:cNvSpPr txBox="1"/>
          <p:nvPr/>
        </p:nvSpPr>
        <p:spPr>
          <a:xfrm>
            <a:off x="675957" y="4024000"/>
            <a:ext cx="4632384" cy="1785104"/>
          </a:xfrm>
          <a:prstGeom prst="rect">
            <a:avLst/>
          </a:prstGeom>
          <a:noFill/>
        </p:spPr>
        <p:txBody>
          <a:bodyPr wrap="square" rtlCol="0">
            <a:spAutoFit/>
          </a:bodyPr>
          <a:lstStyle/>
          <a:p>
            <a:pPr algn="just"/>
            <a:r>
              <a:rPr lang="en-IN" sz="1200" dirty="0"/>
              <a:t>The chart compares average fertilizer usage across seasons. Fertilizer use remains almost the same across Kharif, Rabi, and Zaid.</a:t>
            </a:r>
          </a:p>
          <a:p>
            <a:pPr algn="just"/>
            <a:endParaRPr lang="en-IN" sz="1200" dirty="0"/>
          </a:p>
          <a:p>
            <a:pPr algn="just"/>
            <a:r>
              <a:rPr lang="en-IN" sz="1400" b="1" dirty="0"/>
              <a:t>Conclusion</a:t>
            </a:r>
          </a:p>
          <a:p>
            <a:pPr algn="just"/>
            <a:r>
              <a:rPr lang="en-IN" sz="1200" dirty="0"/>
              <a:t>Fertilizer usage shows very little seasonal variation, suggesting that the differences in yield across seasons are unlikely to be explained by fertilizer quantity alone.</a:t>
            </a:r>
          </a:p>
          <a:p>
            <a:pPr algn="just"/>
            <a:r>
              <a:rPr lang="en-IN" sz="1200" dirty="0"/>
              <a:t>I prefer this response</a:t>
            </a:r>
          </a:p>
        </p:txBody>
      </p:sp>
      <p:pic>
        <p:nvPicPr>
          <p:cNvPr id="14" name="Picture 13">
            <a:extLst>
              <a:ext uri="{FF2B5EF4-FFF2-40B4-BE49-F238E27FC236}">
                <a16:creationId xmlns:a16="http://schemas.microsoft.com/office/drawing/2014/main" id="{A507AA31-5E29-64F0-0D91-1EA430E00459}"/>
              </a:ext>
            </a:extLst>
          </p:cNvPr>
          <p:cNvPicPr>
            <a:picLocks noChangeAspect="1"/>
          </p:cNvPicPr>
          <p:nvPr/>
        </p:nvPicPr>
        <p:blipFill>
          <a:blip r:embed="rId3"/>
          <a:stretch>
            <a:fillRect/>
          </a:stretch>
        </p:blipFill>
        <p:spPr>
          <a:xfrm>
            <a:off x="5550629" y="450640"/>
            <a:ext cx="6017641" cy="2978360"/>
          </a:xfrm>
          <a:prstGeom prst="rect">
            <a:avLst/>
          </a:prstGeom>
        </p:spPr>
      </p:pic>
      <p:pic>
        <p:nvPicPr>
          <p:cNvPr id="16" name="Picture 15">
            <a:extLst>
              <a:ext uri="{FF2B5EF4-FFF2-40B4-BE49-F238E27FC236}">
                <a16:creationId xmlns:a16="http://schemas.microsoft.com/office/drawing/2014/main" id="{4FC02215-4747-8C63-866D-4465F98F4AEA}"/>
              </a:ext>
            </a:extLst>
          </p:cNvPr>
          <p:cNvPicPr>
            <a:picLocks noChangeAspect="1"/>
          </p:cNvPicPr>
          <p:nvPr/>
        </p:nvPicPr>
        <p:blipFill>
          <a:blip r:embed="rId4"/>
          <a:stretch>
            <a:fillRect/>
          </a:stretch>
        </p:blipFill>
        <p:spPr>
          <a:xfrm>
            <a:off x="5551399" y="3429000"/>
            <a:ext cx="6017641" cy="297836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extBox 8">
            <a:extLst>
              <a:ext uri="{FF2B5EF4-FFF2-40B4-BE49-F238E27FC236}">
                <a16:creationId xmlns:a16="http://schemas.microsoft.com/office/drawing/2014/main" id="{D3BC964B-DC16-0FD5-CAEB-BEABC63E53C6}"/>
              </a:ext>
            </a:extLst>
          </p:cNvPr>
          <p:cNvSpPr txBox="1"/>
          <p:nvPr/>
        </p:nvSpPr>
        <p:spPr>
          <a:xfrm>
            <a:off x="623731" y="1355740"/>
            <a:ext cx="4632384" cy="1969770"/>
          </a:xfrm>
          <a:prstGeom prst="rect">
            <a:avLst/>
          </a:prstGeom>
          <a:noFill/>
        </p:spPr>
        <p:txBody>
          <a:bodyPr wrap="square" rtlCol="0">
            <a:spAutoFit/>
          </a:bodyPr>
          <a:lstStyle/>
          <a:p>
            <a:pPr algn="just"/>
            <a:r>
              <a:rPr lang="en-IN" sz="1200" dirty="0"/>
              <a:t>The chart shows the distribution of irrigation methods across Kharif, Rabi, and Zaid. The proportions are quite similar across all three seasons, with Flood and Rainfed being the most common methods.</a:t>
            </a:r>
          </a:p>
          <a:p>
            <a:pPr algn="just"/>
            <a:endParaRPr lang="en-IN" sz="1200" dirty="0"/>
          </a:p>
          <a:p>
            <a:pPr algn="just"/>
            <a:r>
              <a:rPr lang="en-IN" sz="1400" b="1" dirty="0"/>
              <a:t>Conclusion</a:t>
            </a:r>
          </a:p>
          <a:p>
            <a:pPr algn="just"/>
            <a:r>
              <a:rPr lang="en-IN" sz="1200" dirty="0"/>
              <a:t>Irrigation patterns remain relatively consistent across seasons, with only small differences in the use of individual methods. This suggests that season alone does not strongly change the choice of irrigation method in the dataset.</a:t>
            </a:r>
          </a:p>
        </p:txBody>
      </p:sp>
      <p:sp>
        <p:nvSpPr>
          <p:cNvPr id="12" name="TextBox 11">
            <a:extLst>
              <a:ext uri="{FF2B5EF4-FFF2-40B4-BE49-F238E27FC236}">
                <a16:creationId xmlns:a16="http://schemas.microsoft.com/office/drawing/2014/main" id="{7149E613-3419-D11B-EB8C-4738354FE7F3}"/>
              </a:ext>
            </a:extLst>
          </p:cNvPr>
          <p:cNvSpPr txBox="1"/>
          <p:nvPr/>
        </p:nvSpPr>
        <p:spPr>
          <a:xfrm>
            <a:off x="675957" y="4219528"/>
            <a:ext cx="4632384" cy="2000548"/>
          </a:xfrm>
          <a:prstGeom prst="rect">
            <a:avLst/>
          </a:prstGeom>
          <a:noFill/>
        </p:spPr>
        <p:txBody>
          <a:bodyPr wrap="square" rtlCol="0">
            <a:spAutoFit/>
          </a:bodyPr>
          <a:lstStyle/>
          <a:p>
            <a:pPr algn="just"/>
            <a:r>
              <a:rPr lang="en-IN" sz="1200" dirty="0"/>
              <a:t>The heatmap compares average yield across regions and seasons. Yield varies noticeably between regions, and the strongest-performing season differs for some regions.</a:t>
            </a:r>
          </a:p>
          <a:p>
            <a:pPr algn="just"/>
            <a:endParaRPr lang="en-IN" sz="1400" b="1" dirty="0"/>
          </a:p>
          <a:p>
            <a:pPr algn="just"/>
            <a:r>
              <a:rPr lang="en-IN" sz="1400" b="1" dirty="0"/>
              <a:t>Conclusion</a:t>
            </a:r>
          </a:p>
          <a:p>
            <a:pPr algn="just"/>
            <a:r>
              <a:rPr lang="en-IN" sz="1200" dirty="0"/>
              <a:t>Seasonal performance is not consistent across all regions. While Kharif performs strongly in several regions, some regions achieve higher yields in Rabi or Zaid. This shows that regional conditions should be considered along with season when planning agricultural activities.</a:t>
            </a:r>
          </a:p>
        </p:txBody>
      </p:sp>
      <p:pic>
        <p:nvPicPr>
          <p:cNvPr id="14" name="Picture 13">
            <a:extLst>
              <a:ext uri="{FF2B5EF4-FFF2-40B4-BE49-F238E27FC236}">
                <a16:creationId xmlns:a16="http://schemas.microsoft.com/office/drawing/2014/main" id="{83335064-9FAC-6900-E96F-A202C6138613}"/>
              </a:ext>
            </a:extLst>
          </p:cNvPr>
          <p:cNvPicPr>
            <a:picLocks noChangeAspect="1"/>
          </p:cNvPicPr>
          <p:nvPr/>
        </p:nvPicPr>
        <p:blipFill>
          <a:blip r:embed="rId3"/>
          <a:stretch>
            <a:fillRect/>
          </a:stretch>
        </p:blipFill>
        <p:spPr>
          <a:xfrm>
            <a:off x="5633048" y="717076"/>
            <a:ext cx="5935221" cy="2940604"/>
          </a:xfrm>
          <a:prstGeom prst="rect">
            <a:avLst/>
          </a:prstGeom>
        </p:spPr>
      </p:pic>
      <p:pic>
        <p:nvPicPr>
          <p:cNvPr id="16" name="Picture 15">
            <a:extLst>
              <a:ext uri="{FF2B5EF4-FFF2-40B4-BE49-F238E27FC236}">
                <a16:creationId xmlns:a16="http://schemas.microsoft.com/office/drawing/2014/main" id="{766EDC44-7A04-3A5F-A8DD-6C4AF4C3F92F}"/>
              </a:ext>
            </a:extLst>
          </p:cNvPr>
          <p:cNvPicPr>
            <a:picLocks noChangeAspect="1"/>
          </p:cNvPicPr>
          <p:nvPr/>
        </p:nvPicPr>
        <p:blipFill>
          <a:blip r:embed="rId4"/>
          <a:stretch>
            <a:fillRect/>
          </a:stretch>
        </p:blipFill>
        <p:spPr>
          <a:xfrm>
            <a:off x="5840082" y="3655058"/>
            <a:ext cx="5728187" cy="3064205"/>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extBox 8">
            <a:extLst>
              <a:ext uri="{FF2B5EF4-FFF2-40B4-BE49-F238E27FC236}">
                <a16:creationId xmlns:a16="http://schemas.microsoft.com/office/drawing/2014/main" id="{4A8A7531-2ECD-7528-CA16-8B82792C2A83}"/>
              </a:ext>
            </a:extLst>
          </p:cNvPr>
          <p:cNvSpPr txBox="1"/>
          <p:nvPr/>
        </p:nvSpPr>
        <p:spPr>
          <a:xfrm>
            <a:off x="623730" y="2562552"/>
            <a:ext cx="4632384" cy="1600438"/>
          </a:xfrm>
          <a:prstGeom prst="rect">
            <a:avLst/>
          </a:prstGeom>
          <a:noFill/>
        </p:spPr>
        <p:txBody>
          <a:bodyPr wrap="square" rtlCol="0">
            <a:spAutoFit/>
          </a:bodyPr>
          <a:lstStyle/>
          <a:p>
            <a:pPr algn="just"/>
            <a:r>
              <a:rPr lang="en-IN" sz="1200" dirty="0"/>
              <a:t>The index compares each season's average yield with the overall average (100). Kharif is above the overall average, while Rabi and Zaid are below it.</a:t>
            </a:r>
          </a:p>
          <a:p>
            <a:pPr algn="just"/>
            <a:endParaRPr lang="en-IN" sz="1200" dirty="0"/>
          </a:p>
          <a:p>
            <a:pPr algn="just"/>
            <a:r>
              <a:rPr lang="en-IN" sz="1400" b="1" dirty="0"/>
              <a:t>Conclusion</a:t>
            </a:r>
          </a:p>
          <a:p>
            <a:pPr algn="just"/>
            <a:r>
              <a:rPr lang="en-IN" sz="1200" dirty="0"/>
              <a:t>Kharif performs above the overall benchmark, whereas Rabi and Zaid perform below it. This reinforces Kharif as the strongest-performing season in the dataset.</a:t>
            </a:r>
          </a:p>
        </p:txBody>
      </p:sp>
      <p:pic>
        <p:nvPicPr>
          <p:cNvPr id="14" name="Picture 13">
            <a:extLst>
              <a:ext uri="{FF2B5EF4-FFF2-40B4-BE49-F238E27FC236}">
                <a16:creationId xmlns:a16="http://schemas.microsoft.com/office/drawing/2014/main" id="{5C78D16A-DA86-3E2A-54A3-C2E794524F11}"/>
              </a:ext>
            </a:extLst>
          </p:cNvPr>
          <p:cNvPicPr>
            <a:picLocks noChangeAspect="1"/>
          </p:cNvPicPr>
          <p:nvPr/>
        </p:nvPicPr>
        <p:blipFill>
          <a:blip r:embed="rId3"/>
          <a:stretch>
            <a:fillRect/>
          </a:stretch>
        </p:blipFill>
        <p:spPr>
          <a:xfrm>
            <a:off x="5550236" y="1649251"/>
            <a:ext cx="6140608" cy="3042364"/>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622E294F-4933-A391-0829-9E1FB0BD5CF3}"/>
              </a:ext>
            </a:extLst>
          </p:cNvPr>
          <p:cNvSpPr txBox="1"/>
          <p:nvPr/>
        </p:nvSpPr>
        <p:spPr>
          <a:xfrm>
            <a:off x="719091" y="1339602"/>
            <a:ext cx="9339311" cy="4985980"/>
          </a:xfrm>
          <a:prstGeom prst="rect">
            <a:avLst/>
          </a:prstGeom>
          <a:noFill/>
        </p:spPr>
        <p:txBody>
          <a:bodyPr wrap="square" rtlCol="0">
            <a:spAutoFit/>
          </a:bodyPr>
          <a:lstStyle/>
          <a:p>
            <a:r>
              <a:rPr lang="en-IN" sz="1600" dirty="0"/>
              <a:t>The current analysis can be extended into a more advanced agricultural decision-support system.</a:t>
            </a:r>
          </a:p>
          <a:p>
            <a:endParaRPr lang="en-IN" sz="1600" dirty="0"/>
          </a:p>
          <a:p>
            <a:r>
              <a:rPr lang="en-IN" sz="1600" b="1" dirty="0"/>
              <a:t>01 - Predictive Analytics</a:t>
            </a:r>
            <a:br>
              <a:rPr lang="en-IN" sz="1600" dirty="0"/>
            </a:br>
            <a:r>
              <a:rPr lang="en-IN" sz="1600" dirty="0"/>
              <a:t>Predict crop yield and profitability for upcoming seasons.</a:t>
            </a:r>
          </a:p>
          <a:p>
            <a:endParaRPr lang="en-IN" sz="1600" dirty="0"/>
          </a:p>
          <a:p>
            <a:r>
              <a:rPr lang="en-IN" sz="1600" b="1" dirty="0"/>
              <a:t>02 - Crop Recommendation</a:t>
            </a:r>
            <a:br>
              <a:rPr lang="en-IN" sz="1600" dirty="0"/>
            </a:br>
            <a:r>
              <a:rPr lang="en-IN" sz="1600" dirty="0"/>
              <a:t>Recommend suitable crop–season combinations using historical performance.</a:t>
            </a:r>
          </a:p>
          <a:p>
            <a:endParaRPr lang="en-IN" sz="1600" dirty="0"/>
          </a:p>
          <a:p>
            <a:r>
              <a:rPr lang="en-IN" sz="1600" b="1" dirty="0"/>
              <a:t>03 - Regional Intelligence</a:t>
            </a:r>
            <a:br>
              <a:rPr lang="en-IN" sz="1600" dirty="0"/>
            </a:br>
            <a:r>
              <a:rPr lang="en-IN" sz="1600" dirty="0"/>
              <a:t>Develop district-level performance dashboards.</a:t>
            </a:r>
          </a:p>
          <a:p>
            <a:endParaRPr lang="en-IN" sz="1600" dirty="0"/>
          </a:p>
          <a:p>
            <a:r>
              <a:rPr lang="en-IN" sz="1600" b="1" dirty="0"/>
              <a:t>04 - Risk Prediction</a:t>
            </a:r>
            <a:br>
              <a:rPr lang="en-IN" sz="1600" dirty="0"/>
            </a:br>
            <a:r>
              <a:rPr lang="en-IN" sz="1600" dirty="0"/>
              <a:t>Predict disease/pest risk using environmental and farming conditions.</a:t>
            </a:r>
          </a:p>
          <a:p>
            <a:endParaRPr lang="en-IN" sz="1600" dirty="0"/>
          </a:p>
          <a:p>
            <a:r>
              <a:rPr lang="en-IN" sz="1600" b="1" dirty="0"/>
              <a:t>05 - Interactive Dashboard</a:t>
            </a:r>
            <a:br>
              <a:rPr lang="en-IN" sz="1600" dirty="0"/>
            </a:br>
            <a:r>
              <a:rPr lang="en-IN" sz="1600" dirty="0"/>
              <a:t>Build a Power BI / </a:t>
            </a:r>
            <a:r>
              <a:rPr lang="en-IN" sz="1600" dirty="0" err="1"/>
              <a:t>Streamlit</a:t>
            </a:r>
            <a:r>
              <a:rPr lang="en-IN" sz="1600" dirty="0"/>
              <a:t> dashboard for real-time exploration.</a:t>
            </a:r>
          </a:p>
          <a:p>
            <a:endParaRPr lang="en-IN" sz="1600" dirty="0"/>
          </a:p>
          <a:p>
            <a:r>
              <a:rPr lang="en-IN" sz="1600" b="1" dirty="0"/>
              <a:t>06 - More Data</a:t>
            </a:r>
            <a:br>
              <a:rPr lang="en-IN" sz="1600" dirty="0"/>
            </a:br>
            <a:r>
              <a:rPr lang="en-IN" sz="1600" dirty="0"/>
              <a:t>Integrate multi-year weather, market-price and soil datasets for stronger analysis.</a:t>
            </a:r>
          </a:p>
          <a:p>
            <a:endParaRPr lang="en-IN" sz="14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0B264C4E-8DBE-3A53-F350-BEF8AFE73284}"/>
              </a:ext>
            </a:extLst>
          </p:cNvPr>
          <p:cNvSpPr txBox="1"/>
          <p:nvPr/>
        </p:nvSpPr>
        <p:spPr>
          <a:xfrm>
            <a:off x="675957" y="1466491"/>
            <a:ext cx="8416285" cy="1754326"/>
          </a:xfrm>
          <a:prstGeom prst="rect">
            <a:avLst/>
          </a:prstGeom>
          <a:noFill/>
        </p:spPr>
        <p:txBody>
          <a:bodyPr wrap="square" rtlCol="0">
            <a:spAutoFit/>
          </a:bodyPr>
          <a:lstStyle/>
          <a:p>
            <a:r>
              <a:rPr lang="en-IN" b="1" dirty="0"/>
              <a:t>Project Repository:</a:t>
            </a:r>
          </a:p>
          <a:p>
            <a:r>
              <a:rPr lang="en-IN" b="1" dirty="0"/>
              <a:t>Seasonal Agriculture Performance Analysis</a:t>
            </a:r>
          </a:p>
          <a:p>
            <a:endParaRPr lang="en-IN" dirty="0"/>
          </a:p>
          <a:p>
            <a:endParaRPr lang="en-IN" dirty="0"/>
          </a:p>
          <a:p>
            <a:r>
              <a:rPr lang="en-IN" b="1" dirty="0"/>
              <a:t>GitHub:</a:t>
            </a:r>
            <a:br>
              <a:rPr lang="en-IN" dirty="0"/>
            </a:br>
            <a:r>
              <a:rPr lang="en-IN" dirty="0">
                <a:solidFill>
                  <a:srgbClr val="0070C0"/>
                </a:solidFill>
                <a:hlinkClick r:id="rId3">
                  <a:extLst>
                    <a:ext uri="{A12FA001-AC4F-418D-AE19-62706E023703}">
                      <ahyp:hlinkClr xmlns:ahyp="http://schemas.microsoft.com/office/drawing/2018/hyperlinkcolor" val="tx"/>
                    </a:ext>
                  </a:extLst>
                </a:hlinkClick>
              </a:rPr>
              <a:t>https://github.com/aashitiwari555/Seasonal-Agriculture-Performance-Analysis</a:t>
            </a:r>
            <a:endParaRPr lang="en-IN" dirty="0">
              <a:solidFill>
                <a:srgbClr val="0070C0"/>
              </a:solidFill>
            </a:endParaRP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11762FBD-7401-F09C-0D2D-8273031755DA}"/>
              </a:ext>
            </a:extLst>
          </p:cNvPr>
          <p:cNvPicPr>
            <a:picLocks noChangeAspect="1"/>
          </p:cNvPicPr>
          <p:nvPr/>
        </p:nvPicPr>
        <p:blipFill>
          <a:blip r:embed="rId3"/>
          <a:stretch>
            <a:fillRect/>
          </a:stretch>
        </p:blipFill>
        <p:spPr>
          <a:xfrm>
            <a:off x="778702" y="1388776"/>
            <a:ext cx="7323766" cy="5179664"/>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26000" y="3262457"/>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731</TotalTime>
  <Words>1084</Words>
  <Application>Microsoft Office PowerPoint</Application>
  <PresentationFormat>Widescreen</PresentationFormat>
  <Paragraphs>115</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AASHI TIWARI</cp:lastModifiedBy>
  <cp:revision>100</cp:revision>
  <dcterms:created xsi:type="dcterms:W3CDTF">2021-07-11T13:13:15Z</dcterms:created>
  <dcterms:modified xsi:type="dcterms:W3CDTF">2026-09-09T17:28:17Z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